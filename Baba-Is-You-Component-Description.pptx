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Comfortaa"/>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Comfortaa-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font" Target="fonts/Comfortaa-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98612e307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98612e307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d98612e307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d98612e307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g3d98612e307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 name="Google Shape;68;g3d98612e307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d98612e307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d98612e307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d98612e307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d98612e307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d98612e307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d98612e307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d988e1824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d988e1824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7.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gi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gi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gi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2.gi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gi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gif"/></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a:ln cap="flat" cmpd="sng" w="19050">
            <a:solidFill>
              <a:schemeClr val="lt1"/>
            </a:solidFill>
            <a:prstDash val="dashDot"/>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92269"/>
                </a:solidFill>
                <a:latin typeface="Comfortaa"/>
                <a:ea typeface="Comfortaa"/>
                <a:cs typeface="Comfortaa"/>
                <a:sym typeface="Comfortaa"/>
              </a:rPr>
              <a:t>Decoder</a:t>
            </a:r>
            <a:endParaRPr>
              <a:solidFill>
                <a:srgbClr val="E92269"/>
              </a:solidFill>
              <a:latin typeface="Comfortaa"/>
              <a:ea typeface="Comfortaa"/>
              <a:cs typeface="Comfortaa"/>
              <a:sym typeface="Comfortaa"/>
            </a:endParaRPr>
          </a:p>
        </p:txBody>
      </p:sp>
      <p:pic>
        <p:nvPicPr>
          <p:cNvPr id="55" name="Google Shape;55;p13" title="ScreenRecording2026-04-23at1.17.15AM-ezgif.com-video-to-gif-converter (1).gif"/>
          <p:cNvPicPr preferRelativeResize="0"/>
          <p:nvPr/>
        </p:nvPicPr>
        <p:blipFill rotWithShape="1">
          <a:blip r:embed="rId3">
            <a:alphaModFix/>
          </a:blip>
          <a:srcRect b="13734" l="11067" r="19768" t="8675"/>
          <a:stretch/>
        </p:blipFill>
        <p:spPr>
          <a:xfrm>
            <a:off x="311690" y="1200613"/>
            <a:ext cx="4169981" cy="2901788"/>
          </a:xfrm>
          <a:prstGeom prst="rect">
            <a:avLst/>
          </a:prstGeom>
          <a:noFill/>
          <a:ln cap="flat" cmpd="sng" w="9525">
            <a:solidFill>
              <a:schemeClr val="lt1"/>
            </a:solidFill>
            <a:prstDash val="solid"/>
            <a:round/>
            <a:headEnd len="sm" w="sm" type="none"/>
            <a:tailEnd len="sm" w="sm" type="none"/>
          </a:ln>
        </p:spPr>
      </p:pic>
      <p:sp>
        <p:nvSpPr>
          <p:cNvPr id="56" name="Google Shape;56;p13"/>
          <p:cNvSpPr txBox="1"/>
          <p:nvPr/>
        </p:nvSpPr>
        <p:spPr>
          <a:xfrm>
            <a:off x="416825" y="4285300"/>
            <a:ext cx="3413100" cy="6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Decode the symbol into 4 bits</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rPr lang="en" sz="1200">
                <a:solidFill>
                  <a:schemeClr val="lt1"/>
                </a:solidFill>
                <a:latin typeface="Comfortaa"/>
                <a:ea typeface="Comfortaa"/>
                <a:cs typeface="Comfortaa"/>
                <a:sym typeface="Comfortaa"/>
              </a:rPr>
              <a:t>(cat = 1001 = baba keke keke baba)</a:t>
            </a:r>
            <a:endParaRPr sz="1200">
              <a:solidFill>
                <a:schemeClr val="lt1"/>
              </a:solidFill>
              <a:latin typeface="Comfortaa"/>
              <a:ea typeface="Comfortaa"/>
              <a:cs typeface="Comfortaa"/>
              <a:sym typeface="Comfortaa"/>
            </a:endParaRPr>
          </a:p>
        </p:txBody>
      </p:sp>
      <p:sp>
        <p:nvSpPr>
          <p:cNvPr id="57" name="Google Shape;57;p13"/>
          <p:cNvSpPr txBox="1"/>
          <p:nvPr/>
        </p:nvSpPr>
        <p:spPr>
          <a:xfrm>
            <a:off x="4776200" y="1192025"/>
            <a:ext cx="4056000" cy="30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Each unique object is hard coded to decode each hex value’s corresponding bit. The Tree handles the LSB, Trees handles the second bit, Husk handles the third bit, Husks handles the most significant bit.</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rPr lang="en" sz="1200">
                <a:solidFill>
                  <a:schemeClr val="lt1"/>
                </a:solidFill>
                <a:latin typeface="Comfortaa"/>
                <a:ea typeface="Comfortaa"/>
                <a:cs typeface="Comfortaa"/>
                <a:sym typeface="Comfortaa"/>
              </a:rPr>
              <a:t>The beds are used to keep the objects on track. We use FacedBy to detect when an object is next to the symbols, but that means we have to force the objects to move along a direction that they are not facing. The bed forces them to be Nudged right.</a:t>
            </a:r>
            <a:endParaRPr sz="1200">
              <a:solidFill>
                <a:schemeClr val="lt1"/>
              </a:solidFill>
              <a:latin typeface="Comfortaa"/>
              <a:ea typeface="Comfortaa"/>
              <a:cs typeface="Comfortaa"/>
              <a:sym typeface="Comforta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1" name="Shape 61"/>
        <p:cNvGrpSpPr/>
        <p:nvPr/>
      </p:nvGrpSpPr>
      <p:grpSpPr>
        <a:xfrm>
          <a:off x="0" y="0"/>
          <a:ext cx="0" cy="0"/>
          <a:chOff x="0" y="0"/>
          <a:chExt cx="0" cy="0"/>
        </a:xfrm>
      </p:grpSpPr>
      <p:sp>
        <p:nvSpPr>
          <p:cNvPr id="62" name="Google Shape;62;p14"/>
          <p:cNvSpPr txBox="1"/>
          <p:nvPr>
            <p:ph type="title"/>
          </p:nvPr>
        </p:nvSpPr>
        <p:spPr>
          <a:xfrm>
            <a:off x="311700" y="445025"/>
            <a:ext cx="8520600" cy="572700"/>
          </a:xfrm>
          <a:prstGeom prst="rect">
            <a:avLst/>
          </a:prstGeom>
          <a:ln cap="flat" cmpd="sng" w="19050">
            <a:solidFill>
              <a:schemeClr val="lt1"/>
            </a:solidFill>
            <a:prstDash val="dashDot"/>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92269"/>
                </a:solidFill>
                <a:latin typeface="Comfortaa"/>
                <a:ea typeface="Comfortaa"/>
                <a:cs typeface="Comfortaa"/>
                <a:sym typeface="Comfortaa"/>
              </a:rPr>
              <a:t>8-bit Mux</a:t>
            </a:r>
            <a:endParaRPr>
              <a:solidFill>
                <a:srgbClr val="E92269"/>
              </a:solidFill>
              <a:latin typeface="Comfortaa"/>
              <a:ea typeface="Comfortaa"/>
              <a:cs typeface="Comfortaa"/>
              <a:sym typeface="Comfortaa"/>
            </a:endParaRPr>
          </a:p>
        </p:txBody>
      </p:sp>
      <p:sp>
        <p:nvSpPr>
          <p:cNvPr id="63" name="Google Shape;63;p14"/>
          <p:cNvSpPr txBox="1"/>
          <p:nvPr/>
        </p:nvSpPr>
        <p:spPr>
          <a:xfrm>
            <a:off x="416825" y="4285300"/>
            <a:ext cx="3413100" cy="6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Choose an 8-bit signal based off a control signal</a:t>
            </a:r>
            <a:endParaRPr sz="1200">
              <a:solidFill>
                <a:schemeClr val="lt1"/>
              </a:solidFill>
              <a:latin typeface="Comfortaa"/>
              <a:ea typeface="Comfortaa"/>
              <a:cs typeface="Comfortaa"/>
              <a:sym typeface="Comfortaa"/>
            </a:endParaRPr>
          </a:p>
        </p:txBody>
      </p:sp>
      <p:sp>
        <p:nvSpPr>
          <p:cNvPr id="64" name="Google Shape;64;p14"/>
          <p:cNvSpPr txBox="1"/>
          <p:nvPr/>
        </p:nvSpPr>
        <p:spPr>
          <a:xfrm>
            <a:off x="4776200" y="1159368"/>
            <a:ext cx="4056000" cy="30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The control signal comes in from the top. If the control signal is a Baba, Lily creates an intermediate Badbad which immediately falls through to the bottom layer. If the control </a:t>
            </a:r>
            <a:r>
              <a:rPr lang="en" sz="1200">
                <a:solidFill>
                  <a:schemeClr val="lt1"/>
                </a:solidFill>
                <a:latin typeface="Comfortaa"/>
                <a:ea typeface="Comfortaa"/>
                <a:cs typeface="Comfortaa"/>
                <a:sym typeface="Comfortaa"/>
              </a:rPr>
              <a:t>signal</a:t>
            </a:r>
            <a:r>
              <a:rPr lang="en" sz="1200">
                <a:solidFill>
                  <a:schemeClr val="lt1"/>
                </a:solidFill>
                <a:latin typeface="Comfortaa"/>
                <a:ea typeface="Comfortaa"/>
                <a:cs typeface="Comfortaa"/>
                <a:sym typeface="Comfortaa"/>
              </a:rPr>
              <a:t> is a Keke it instead creates an intermediate Me which travels down the top Lever. Any Babas or Kekes which are on a Lever and Me or Badbad are destroyed.</a:t>
            </a:r>
            <a:endParaRPr sz="1200">
              <a:solidFill>
                <a:schemeClr val="lt1"/>
              </a:solidFill>
              <a:latin typeface="Comfortaa"/>
              <a:ea typeface="Comfortaa"/>
              <a:cs typeface="Comfortaa"/>
              <a:sym typeface="Comfortaa"/>
            </a:endParaRPr>
          </a:p>
        </p:txBody>
      </p:sp>
      <p:pic>
        <p:nvPicPr>
          <p:cNvPr id="65" name="Google Shape;65;p14" title="ScreenRecording2026-04-23at1.40.49AM-ezgif.com-video-to-gif-converter.gif"/>
          <p:cNvPicPr preferRelativeResize="0"/>
          <p:nvPr/>
        </p:nvPicPr>
        <p:blipFill rotWithShape="1">
          <a:blip r:embed="rId3">
            <a:alphaModFix/>
          </a:blip>
          <a:srcRect b="11704" l="8172" r="19704" t="8405"/>
          <a:stretch/>
        </p:blipFill>
        <p:spPr>
          <a:xfrm>
            <a:off x="311700" y="1212975"/>
            <a:ext cx="4345450" cy="2986075"/>
          </a:xfrm>
          <a:prstGeom prst="rect">
            <a:avLst/>
          </a:prstGeom>
          <a:noFill/>
          <a:ln cap="flat" cmpd="sng" w="9525">
            <a:solidFill>
              <a:srgbClr val="FFFFFF"/>
            </a:solidFill>
            <a:prstDash val="solid"/>
            <a:round/>
            <a:headEnd len="sm" w="sm" type="none"/>
            <a:tailEnd len="sm" w="sm" type="none"/>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9" name="Shape 69"/>
        <p:cNvGrpSpPr/>
        <p:nvPr/>
      </p:nvGrpSpPr>
      <p:grpSpPr>
        <a:xfrm>
          <a:off x="0" y="0"/>
          <a:ext cx="0" cy="0"/>
          <a:chOff x="0" y="0"/>
          <a:chExt cx="0" cy="0"/>
        </a:xfrm>
      </p:grpSpPr>
      <p:sp>
        <p:nvSpPr>
          <p:cNvPr id="70" name="Google Shape;70;p15"/>
          <p:cNvSpPr txBox="1"/>
          <p:nvPr>
            <p:ph type="title"/>
          </p:nvPr>
        </p:nvSpPr>
        <p:spPr>
          <a:xfrm>
            <a:off x="311700" y="445025"/>
            <a:ext cx="8520600" cy="572700"/>
          </a:xfrm>
          <a:prstGeom prst="rect">
            <a:avLst/>
          </a:prstGeom>
          <a:ln cap="flat" cmpd="sng" w="19050">
            <a:solidFill>
              <a:schemeClr val="lt1"/>
            </a:solidFill>
            <a:prstDash val="dashDot"/>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92269"/>
                </a:solidFill>
                <a:latin typeface="Comfortaa"/>
                <a:ea typeface="Comfortaa"/>
                <a:cs typeface="Comfortaa"/>
                <a:sym typeface="Comfortaa"/>
              </a:rPr>
              <a:t>Adder</a:t>
            </a:r>
            <a:endParaRPr>
              <a:solidFill>
                <a:srgbClr val="E92269"/>
              </a:solidFill>
              <a:latin typeface="Comfortaa"/>
              <a:ea typeface="Comfortaa"/>
              <a:cs typeface="Comfortaa"/>
              <a:sym typeface="Comfortaa"/>
            </a:endParaRPr>
          </a:p>
        </p:txBody>
      </p:sp>
      <p:sp>
        <p:nvSpPr>
          <p:cNvPr id="71" name="Google Shape;71;p15"/>
          <p:cNvSpPr txBox="1"/>
          <p:nvPr/>
        </p:nvSpPr>
        <p:spPr>
          <a:xfrm>
            <a:off x="416825" y="4285300"/>
            <a:ext cx="3413100" cy="6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Adds two 8-bit numbers and throws away carry</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t/>
            </a:r>
            <a:endParaRPr sz="1200">
              <a:solidFill>
                <a:schemeClr val="lt1"/>
              </a:solidFill>
              <a:latin typeface="Comfortaa"/>
              <a:ea typeface="Comfortaa"/>
              <a:cs typeface="Comfortaa"/>
              <a:sym typeface="Comfortaa"/>
            </a:endParaRPr>
          </a:p>
        </p:txBody>
      </p:sp>
      <p:sp>
        <p:nvSpPr>
          <p:cNvPr id="72" name="Google Shape;72;p15"/>
          <p:cNvSpPr txBox="1"/>
          <p:nvPr/>
        </p:nvSpPr>
        <p:spPr>
          <a:xfrm>
            <a:off x="4776200" y="1159368"/>
            <a:ext cx="4056000" cy="30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First, we combine the two signals. Then, on each Orb, we check if there are two Babas. If there are we send a Crab upward. Crab represents our carry, and each Orb outputs either Baba or Keke depending on the carry bit and the overlapped Babas and Kekes.</a:t>
            </a:r>
            <a:endParaRPr sz="1200">
              <a:solidFill>
                <a:schemeClr val="lt1"/>
              </a:solidFill>
              <a:latin typeface="Comfortaa"/>
              <a:ea typeface="Comfortaa"/>
              <a:cs typeface="Comfortaa"/>
              <a:sym typeface="Comfortaa"/>
            </a:endParaRPr>
          </a:p>
        </p:txBody>
      </p:sp>
      <p:pic>
        <p:nvPicPr>
          <p:cNvPr id="73" name="Google Shape;73;p15" title="ScreenRecording2026-04-23at1.53.35AM-ezgif.com-video-to-gif-converter.gif"/>
          <p:cNvPicPr preferRelativeResize="0"/>
          <p:nvPr/>
        </p:nvPicPr>
        <p:blipFill rotWithShape="1">
          <a:blip r:embed="rId3">
            <a:alphaModFix/>
          </a:blip>
          <a:srcRect b="11847" l="7749" r="19624" t="10465"/>
          <a:stretch/>
        </p:blipFill>
        <p:spPr>
          <a:xfrm>
            <a:off x="311688" y="1330275"/>
            <a:ext cx="3982074" cy="2642476"/>
          </a:xfrm>
          <a:prstGeom prst="rect">
            <a:avLst/>
          </a:prstGeom>
          <a:noFill/>
          <a:ln cap="flat" cmpd="sng" w="9525">
            <a:solidFill>
              <a:srgbClr val="FFFFFF"/>
            </a:solidFill>
            <a:prstDash val="solid"/>
            <a:round/>
            <a:headEnd len="sm" w="sm" type="none"/>
            <a:tailEnd len="sm" w="sm" type="none"/>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7" name="Shape 77"/>
        <p:cNvGrpSpPr/>
        <p:nvPr/>
      </p:nvGrpSpPr>
      <p:grpSpPr>
        <a:xfrm>
          <a:off x="0" y="0"/>
          <a:ext cx="0" cy="0"/>
          <a:chOff x="0" y="0"/>
          <a:chExt cx="0" cy="0"/>
        </a:xfrm>
      </p:grpSpPr>
      <p:sp>
        <p:nvSpPr>
          <p:cNvPr id="78" name="Google Shape;78;p16"/>
          <p:cNvSpPr txBox="1"/>
          <p:nvPr>
            <p:ph type="title"/>
          </p:nvPr>
        </p:nvSpPr>
        <p:spPr>
          <a:xfrm>
            <a:off x="311700" y="445025"/>
            <a:ext cx="8520600" cy="572700"/>
          </a:xfrm>
          <a:prstGeom prst="rect">
            <a:avLst/>
          </a:prstGeom>
          <a:ln cap="flat" cmpd="sng" w="19050">
            <a:solidFill>
              <a:schemeClr val="lt1"/>
            </a:solidFill>
            <a:prstDash val="dashDot"/>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92269"/>
                </a:solidFill>
                <a:latin typeface="Comfortaa"/>
                <a:ea typeface="Comfortaa"/>
                <a:cs typeface="Comfortaa"/>
                <a:sym typeface="Comfortaa"/>
              </a:rPr>
              <a:t>Memory</a:t>
            </a:r>
            <a:endParaRPr>
              <a:solidFill>
                <a:srgbClr val="E92269"/>
              </a:solidFill>
              <a:latin typeface="Comfortaa"/>
              <a:ea typeface="Comfortaa"/>
              <a:cs typeface="Comfortaa"/>
              <a:sym typeface="Comfortaa"/>
            </a:endParaRPr>
          </a:p>
        </p:txBody>
      </p:sp>
      <p:sp>
        <p:nvSpPr>
          <p:cNvPr id="79" name="Google Shape;79;p16"/>
          <p:cNvSpPr txBox="1"/>
          <p:nvPr/>
        </p:nvSpPr>
        <p:spPr>
          <a:xfrm>
            <a:off x="416825" y="4285300"/>
            <a:ext cx="3413100" cy="6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Either read or write a memory value.</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rPr lang="en" sz="1200">
                <a:solidFill>
                  <a:schemeClr val="lt1"/>
                </a:solidFill>
                <a:latin typeface="Comfortaa"/>
                <a:ea typeface="Comfortaa"/>
                <a:cs typeface="Comfortaa"/>
                <a:sym typeface="Comfortaa"/>
              </a:rPr>
              <a:t>This is used for both program instructions and data values</a:t>
            </a:r>
            <a:endParaRPr sz="1200">
              <a:solidFill>
                <a:schemeClr val="lt1"/>
              </a:solidFill>
              <a:latin typeface="Comfortaa"/>
              <a:ea typeface="Comfortaa"/>
              <a:cs typeface="Comfortaa"/>
              <a:sym typeface="Comfortaa"/>
            </a:endParaRPr>
          </a:p>
        </p:txBody>
      </p:sp>
      <p:sp>
        <p:nvSpPr>
          <p:cNvPr id="80" name="Google Shape;80;p16"/>
          <p:cNvSpPr txBox="1"/>
          <p:nvPr/>
        </p:nvSpPr>
        <p:spPr>
          <a:xfrm>
            <a:off x="4776200" y="1159376"/>
            <a:ext cx="4056000" cy="353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Our Memory module is interleaved. The left side represents the most significant nibble. The right side </a:t>
            </a:r>
            <a:r>
              <a:rPr lang="en" sz="1200">
                <a:solidFill>
                  <a:schemeClr val="lt1"/>
                </a:solidFill>
                <a:latin typeface="Comfortaa"/>
                <a:ea typeface="Comfortaa"/>
                <a:cs typeface="Comfortaa"/>
                <a:sym typeface="Comfortaa"/>
              </a:rPr>
              <a:t>represents</a:t>
            </a:r>
            <a:r>
              <a:rPr lang="en" sz="1200">
                <a:solidFill>
                  <a:schemeClr val="lt1"/>
                </a:solidFill>
                <a:latin typeface="Comfortaa"/>
                <a:ea typeface="Comfortaa"/>
                <a:cs typeface="Comfortaa"/>
                <a:sym typeface="Comfortaa"/>
              </a:rPr>
              <a:t> the least significant nibble. Our input is an 8-bit signal. We split into the higher and lower order 4-bits to row-select and then column-select. </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rPr lang="en" sz="1200">
                <a:solidFill>
                  <a:schemeClr val="lt1"/>
                </a:solidFill>
                <a:latin typeface="Comfortaa"/>
                <a:ea typeface="Comfortaa"/>
                <a:cs typeface="Comfortaa"/>
                <a:sym typeface="Comfortaa"/>
              </a:rPr>
              <a:t>In order to read memory, we turn the row-column selected value into a banana, which falls out of the memory module. We then use the revert keyword to turn the value back into the original value.</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rPr lang="en" sz="1200">
                <a:solidFill>
                  <a:schemeClr val="lt1"/>
                </a:solidFill>
                <a:latin typeface="Comfortaa"/>
                <a:ea typeface="Comfortaa"/>
                <a:cs typeface="Comfortaa"/>
                <a:sym typeface="Comfortaa"/>
              </a:rPr>
              <a:t>In order to write to memory, we bluetooth memory writing. We use the hex value we want to write to complete a new rule that makes that hex value at the row-column select place. This means that we cannot read and write at the same time but because we are a single-cycle CPU this doesn’t matter.</a:t>
            </a:r>
            <a:endParaRPr sz="1200">
              <a:solidFill>
                <a:schemeClr val="lt1"/>
              </a:solidFill>
              <a:latin typeface="Comfortaa"/>
              <a:ea typeface="Comfortaa"/>
              <a:cs typeface="Comfortaa"/>
              <a:sym typeface="Comfortaa"/>
            </a:endParaRPr>
          </a:p>
        </p:txBody>
      </p:sp>
      <p:pic>
        <p:nvPicPr>
          <p:cNvPr id="81" name="Google Shape;81;p16" title="ScreenRecording2026-04-23at1.37.03PM-ezgif.com-video-to-gif-converter.gif"/>
          <p:cNvPicPr preferRelativeResize="0"/>
          <p:nvPr/>
        </p:nvPicPr>
        <p:blipFill rotWithShape="1">
          <a:blip r:embed="rId3">
            <a:alphaModFix/>
          </a:blip>
          <a:srcRect b="16386" l="12928" r="14361" t="22011"/>
          <a:stretch/>
        </p:blipFill>
        <p:spPr>
          <a:xfrm>
            <a:off x="311700" y="1399202"/>
            <a:ext cx="4464500" cy="2345100"/>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85" name="Shape 85"/>
        <p:cNvGrpSpPr/>
        <p:nvPr/>
      </p:nvGrpSpPr>
      <p:grpSpPr>
        <a:xfrm>
          <a:off x="0" y="0"/>
          <a:ext cx="0" cy="0"/>
          <a:chOff x="0" y="0"/>
          <a:chExt cx="0" cy="0"/>
        </a:xfrm>
      </p:grpSpPr>
      <p:sp>
        <p:nvSpPr>
          <p:cNvPr id="86" name="Google Shape;86;p17"/>
          <p:cNvSpPr txBox="1"/>
          <p:nvPr>
            <p:ph type="title"/>
          </p:nvPr>
        </p:nvSpPr>
        <p:spPr>
          <a:xfrm>
            <a:off x="311700" y="445025"/>
            <a:ext cx="8520600" cy="572700"/>
          </a:xfrm>
          <a:prstGeom prst="rect">
            <a:avLst/>
          </a:prstGeom>
          <a:ln cap="flat" cmpd="sng" w="19050">
            <a:solidFill>
              <a:schemeClr val="lt1"/>
            </a:solidFill>
            <a:prstDash val="dashDot"/>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92269"/>
                </a:solidFill>
                <a:latin typeface="Comfortaa"/>
                <a:ea typeface="Comfortaa"/>
                <a:cs typeface="Comfortaa"/>
                <a:sym typeface="Comfortaa"/>
              </a:rPr>
              <a:t>Encoder</a:t>
            </a:r>
            <a:endParaRPr>
              <a:solidFill>
                <a:srgbClr val="E92269"/>
              </a:solidFill>
              <a:latin typeface="Comfortaa"/>
              <a:ea typeface="Comfortaa"/>
              <a:cs typeface="Comfortaa"/>
              <a:sym typeface="Comfortaa"/>
            </a:endParaRPr>
          </a:p>
        </p:txBody>
      </p:sp>
      <p:sp>
        <p:nvSpPr>
          <p:cNvPr id="87" name="Google Shape;87;p17"/>
          <p:cNvSpPr txBox="1"/>
          <p:nvPr/>
        </p:nvSpPr>
        <p:spPr>
          <a:xfrm>
            <a:off x="416825" y="4285300"/>
            <a:ext cx="3413100" cy="6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Encode a 4-bit stream to hex</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rPr lang="en" sz="1200">
                <a:solidFill>
                  <a:schemeClr val="lt1"/>
                </a:solidFill>
                <a:latin typeface="Comfortaa"/>
                <a:ea typeface="Comfortaa"/>
                <a:cs typeface="Comfortaa"/>
                <a:sym typeface="Comfortaa"/>
              </a:rPr>
              <a:t>(sax = 6, cash = 7)</a:t>
            </a:r>
            <a:endParaRPr sz="1200">
              <a:solidFill>
                <a:schemeClr val="lt1"/>
              </a:solidFill>
              <a:latin typeface="Comfortaa"/>
              <a:ea typeface="Comfortaa"/>
              <a:cs typeface="Comfortaa"/>
              <a:sym typeface="Comfortaa"/>
            </a:endParaRPr>
          </a:p>
        </p:txBody>
      </p:sp>
      <p:sp>
        <p:nvSpPr>
          <p:cNvPr id="88" name="Google Shape;88;p17"/>
          <p:cNvSpPr txBox="1"/>
          <p:nvPr/>
        </p:nvSpPr>
        <p:spPr>
          <a:xfrm>
            <a:off x="4776200" y="1159368"/>
            <a:ext cx="4056000" cy="30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For simplicity, we use a downscaled read-only memory module to encode signals from binary to hex objects. The binary input stream is treated as a 4-bit read address, and the corresponding hex objects are placed in sorted order from address 0 to 15</a:t>
            </a:r>
            <a:endParaRPr sz="1200">
              <a:solidFill>
                <a:schemeClr val="lt1"/>
              </a:solidFill>
              <a:latin typeface="Comfortaa"/>
              <a:ea typeface="Comfortaa"/>
              <a:cs typeface="Comfortaa"/>
              <a:sym typeface="Comfortaa"/>
            </a:endParaRPr>
          </a:p>
        </p:txBody>
      </p:sp>
      <p:pic>
        <p:nvPicPr>
          <p:cNvPr id="89" name="Google Shape;89;p17" title="encode.gif"/>
          <p:cNvPicPr preferRelativeResize="0"/>
          <p:nvPr/>
        </p:nvPicPr>
        <p:blipFill>
          <a:blip r:embed="rId3">
            <a:alphaModFix/>
          </a:blip>
          <a:stretch>
            <a:fillRect/>
          </a:stretch>
        </p:blipFill>
        <p:spPr>
          <a:xfrm>
            <a:off x="311700" y="1224638"/>
            <a:ext cx="4065558" cy="2962775"/>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3" name="Shape 93"/>
        <p:cNvGrpSpPr/>
        <p:nvPr/>
      </p:nvGrpSpPr>
      <p:grpSpPr>
        <a:xfrm>
          <a:off x="0" y="0"/>
          <a:ext cx="0" cy="0"/>
          <a:chOff x="0" y="0"/>
          <a:chExt cx="0" cy="0"/>
        </a:xfrm>
      </p:grpSpPr>
      <p:sp>
        <p:nvSpPr>
          <p:cNvPr id="94" name="Google Shape;94;p18"/>
          <p:cNvSpPr txBox="1"/>
          <p:nvPr>
            <p:ph type="title"/>
          </p:nvPr>
        </p:nvSpPr>
        <p:spPr>
          <a:xfrm>
            <a:off x="311700" y="445025"/>
            <a:ext cx="8520600" cy="572700"/>
          </a:xfrm>
          <a:prstGeom prst="rect">
            <a:avLst/>
          </a:prstGeom>
          <a:ln cap="flat" cmpd="sng" w="19050">
            <a:solidFill>
              <a:schemeClr val="lt1"/>
            </a:solidFill>
            <a:prstDash val="dashDot"/>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92269"/>
                </a:solidFill>
                <a:latin typeface="Comfortaa"/>
                <a:ea typeface="Comfortaa"/>
                <a:cs typeface="Comfortaa"/>
                <a:sym typeface="Comfortaa"/>
              </a:rPr>
              <a:t>Registers</a:t>
            </a:r>
            <a:endParaRPr>
              <a:solidFill>
                <a:srgbClr val="E92269"/>
              </a:solidFill>
              <a:latin typeface="Comfortaa"/>
              <a:ea typeface="Comfortaa"/>
              <a:cs typeface="Comfortaa"/>
              <a:sym typeface="Comfortaa"/>
            </a:endParaRPr>
          </a:p>
        </p:txBody>
      </p:sp>
      <p:sp>
        <p:nvSpPr>
          <p:cNvPr id="95" name="Google Shape;95;p18"/>
          <p:cNvSpPr txBox="1"/>
          <p:nvPr/>
        </p:nvSpPr>
        <p:spPr>
          <a:xfrm>
            <a:off x="416825" y="4285300"/>
            <a:ext cx="3413100" cy="6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Read or write a </a:t>
            </a:r>
            <a:r>
              <a:rPr lang="en" sz="1200">
                <a:solidFill>
                  <a:schemeClr val="lt1"/>
                </a:solidFill>
                <a:latin typeface="Comfortaa"/>
                <a:ea typeface="Comfortaa"/>
                <a:cs typeface="Comfortaa"/>
                <a:sym typeface="Comfortaa"/>
              </a:rPr>
              <a:t>register</a:t>
            </a:r>
            <a:r>
              <a:rPr lang="en" sz="1200">
                <a:solidFill>
                  <a:schemeClr val="lt1"/>
                </a:solidFill>
                <a:latin typeface="Comfortaa"/>
                <a:ea typeface="Comfortaa"/>
                <a:cs typeface="Comfortaa"/>
                <a:sym typeface="Comfortaa"/>
              </a:rPr>
              <a:t> value. Supports two read ports and one write port</a:t>
            </a:r>
            <a:endParaRPr sz="1200">
              <a:solidFill>
                <a:schemeClr val="lt1"/>
              </a:solidFill>
              <a:latin typeface="Comfortaa"/>
              <a:ea typeface="Comfortaa"/>
              <a:cs typeface="Comfortaa"/>
              <a:sym typeface="Comfortaa"/>
            </a:endParaRPr>
          </a:p>
        </p:txBody>
      </p:sp>
      <p:sp>
        <p:nvSpPr>
          <p:cNvPr id="96" name="Google Shape;96;p18"/>
          <p:cNvSpPr txBox="1"/>
          <p:nvPr/>
        </p:nvSpPr>
        <p:spPr>
          <a:xfrm>
            <a:off x="4776200" y="1159368"/>
            <a:ext cx="4056000" cy="30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Our four 8-bit registers are stored as 8 hex tiles. The register module supports 1 write port (top) and 2 read ports (middle + bottom) simultaneously.</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rPr lang="en" sz="1200">
                <a:solidFill>
                  <a:schemeClr val="lt1"/>
                </a:solidFill>
                <a:latin typeface="Comfortaa"/>
                <a:ea typeface="Comfortaa"/>
                <a:cs typeface="Comfortaa"/>
                <a:sym typeface="Comfortaa"/>
              </a:rPr>
              <a:t>Eye and Ear are used to read the higher-order and lower-order hex values, </a:t>
            </a:r>
            <a:r>
              <a:rPr lang="en" sz="1200">
                <a:solidFill>
                  <a:schemeClr val="lt1"/>
                </a:solidFill>
                <a:latin typeface="Comfortaa"/>
                <a:ea typeface="Comfortaa"/>
                <a:cs typeface="Comfortaa"/>
                <a:sym typeface="Comfortaa"/>
              </a:rPr>
              <a:t>respectively. Teeth is used to write to registers. These three objects are routed to their corresponding registers using the Shift property.</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rPr lang="en" sz="1200">
                <a:solidFill>
                  <a:schemeClr val="lt1"/>
                </a:solidFill>
                <a:latin typeface="Comfortaa"/>
                <a:ea typeface="Comfortaa"/>
                <a:cs typeface="Comfortaa"/>
                <a:sym typeface="Comfortaa"/>
              </a:rPr>
              <a:t>Writing to registers involves a bluetooth writing process, similar to writing memory.</a:t>
            </a:r>
            <a:endParaRPr sz="1200">
              <a:solidFill>
                <a:schemeClr val="lt1"/>
              </a:solidFill>
              <a:latin typeface="Comfortaa"/>
              <a:ea typeface="Comfortaa"/>
              <a:cs typeface="Comfortaa"/>
              <a:sym typeface="Comfortaa"/>
            </a:endParaRPr>
          </a:p>
        </p:txBody>
      </p:sp>
      <p:pic>
        <p:nvPicPr>
          <p:cNvPr id="97" name="Google Shape;97;p18" title="reg.gif"/>
          <p:cNvPicPr preferRelativeResize="0"/>
          <p:nvPr/>
        </p:nvPicPr>
        <p:blipFill>
          <a:blip r:embed="rId3">
            <a:alphaModFix/>
          </a:blip>
          <a:stretch>
            <a:fillRect/>
          </a:stretch>
        </p:blipFill>
        <p:spPr>
          <a:xfrm>
            <a:off x="311700" y="1170125"/>
            <a:ext cx="4446942" cy="2962775"/>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01" name="Shape 101"/>
        <p:cNvGrpSpPr/>
        <p:nvPr/>
      </p:nvGrpSpPr>
      <p:grpSpPr>
        <a:xfrm>
          <a:off x="0" y="0"/>
          <a:ext cx="0" cy="0"/>
          <a:chOff x="0" y="0"/>
          <a:chExt cx="0" cy="0"/>
        </a:xfrm>
      </p:grpSpPr>
      <p:sp>
        <p:nvSpPr>
          <p:cNvPr id="102" name="Google Shape;102;p19"/>
          <p:cNvSpPr txBox="1"/>
          <p:nvPr>
            <p:ph type="title"/>
          </p:nvPr>
        </p:nvSpPr>
        <p:spPr>
          <a:xfrm>
            <a:off x="311700" y="445025"/>
            <a:ext cx="8520600" cy="572700"/>
          </a:xfrm>
          <a:prstGeom prst="rect">
            <a:avLst/>
          </a:prstGeom>
          <a:ln cap="flat" cmpd="sng" w="19050">
            <a:solidFill>
              <a:schemeClr val="lt1"/>
            </a:solidFill>
            <a:prstDash val="dashDot"/>
            <a:round/>
            <a:headEnd len="sm" w="sm" type="none"/>
            <a:tailEnd len="sm" w="sm" type="none"/>
          </a:ln>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E92269"/>
                </a:solidFill>
                <a:latin typeface="Comfortaa"/>
                <a:ea typeface="Comfortaa"/>
                <a:cs typeface="Comfortaa"/>
                <a:sym typeface="Comfortaa"/>
              </a:rPr>
              <a:t>PC Flip Flop</a:t>
            </a:r>
            <a:endParaRPr>
              <a:solidFill>
                <a:srgbClr val="E92269"/>
              </a:solidFill>
              <a:latin typeface="Comfortaa"/>
              <a:ea typeface="Comfortaa"/>
              <a:cs typeface="Comfortaa"/>
              <a:sym typeface="Comfortaa"/>
            </a:endParaRPr>
          </a:p>
        </p:txBody>
      </p:sp>
      <p:sp>
        <p:nvSpPr>
          <p:cNvPr id="103" name="Google Shape;103;p19"/>
          <p:cNvSpPr txBox="1"/>
          <p:nvPr/>
        </p:nvSpPr>
        <p:spPr>
          <a:xfrm>
            <a:off x="416825" y="4285300"/>
            <a:ext cx="3413100" cy="65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8-bit D flip-flop always written on every clock tick</a:t>
            </a:r>
            <a:endParaRPr sz="1200">
              <a:solidFill>
                <a:schemeClr val="lt1"/>
              </a:solidFill>
              <a:latin typeface="Comfortaa"/>
              <a:ea typeface="Comfortaa"/>
              <a:cs typeface="Comfortaa"/>
              <a:sym typeface="Comfortaa"/>
            </a:endParaRPr>
          </a:p>
        </p:txBody>
      </p:sp>
      <p:sp>
        <p:nvSpPr>
          <p:cNvPr id="104" name="Google Shape;104;p19"/>
          <p:cNvSpPr txBox="1"/>
          <p:nvPr/>
        </p:nvSpPr>
        <p:spPr>
          <a:xfrm>
            <a:off x="4776200" y="1159368"/>
            <a:ext cx="4056000" cy="309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lt1"/>
                </a:solidFill>
                <a:latin typeface="Comfortaa"/>
                <a:ea typeface="Comfortaa"/>
                <a:cs typeface="Comfortaa"/>
                <a:sym typeface="Comfortaa"/>
              </a:rPr>
              <a:t>Bolt outputs a constant Baba signal, while Wind outputs a constant Keke signal. </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rPr lang="en" sz="1200">
                <a:solidFill>
                  <a:schemeClr val="lt1"/>
                </a:solidFill>
                <a:latin typeface="Comfortaa"/>
                <a:ea typeface="Comfortaa"/>
                <a:cs typeface="Comfortaa"/>
                <a:sym typeface="Comfortaa"/>
              </a:rPr>
              <a:t>Lily is reused to convert Baba into Badbad and Keke into Me.</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t/>
            </a:r>
            <a:endParaRPr sz="1200">
              <a:solidFill>
                <a:schemeClr val="lt1"/>
              </a:solidFill>
              <a:latin typeface="Comfortaa"/>
              <a:ea typeface="Comfortaa"/>
              <a:cs typeface="Comfortaa"/>
              <a:sym typeface="Comfortaa"/>
            </a:endParaRPr>
          </a:p>
          <a:p>
            <a:pPr indent="0" lvl="0" marL="0" rtl="0" algn="l">
              <a:spcBef>
                <a:spcPts val="0"/>
              </a:spcBef>
              <a:spcAft>
                <a:spcPts val="0"/>
              </a:spcAft>
              <a:buNone/>
            </a:pPr>
            <a:r>
              <a:rPr lang="en" sz="1200">
                <a:solidFill>
                  <a:schemeClr val="lt1"/>
                </a:solidFill>
                <a:latin typeface="Comfortaa"/>
                <a:ea typeface="Comfortaa"/>
                <a:cs typeface="Comfortaa"/>
                <a:sym typeface="Comfortaa"/>
              </a:rPr>
              <a:t>We utilize Bolt and Wind on top of Ice to create a simple clocked flip flop. Each clock tick, a Bolt on an incoming Me (from Keke) becomes Wind, while a Wind on an incoming BadBad (from Baba) becomes Bolt.</a:t>
            </a:r>
            <a:endParaRPr sz="1200">
              <a:solidFill>
                <a:schemeClr val="lt1"/>
              </a:solidFill>
              <a:latin typeface="Comfortaa"/>
              <a:ea typeface="Comfortaa"/>
              <a:cs typeface="Comfortaa"/>
              <a:sym typeface="Comfortaa"/>
            </a:endParaRPr>
          </a:p>
        </p:txBody>
      </p:sp>
      <p:pic>
        <p:nvPicPr>
          <p:cNvPr id="105" name="Google Shape;105;p19" title="pc.gif"/>
          <p:cNvPicPr preferRelativeResize="0"/>
          <p:nvPr/>
        </p:nvPicPr>
        <p:blipFill>
          <a:blip r:embed="rId3">
            <a:alphaModFix/>
          </a:blip>
          <a:stretch>
            <a:fillRect/>
          </a:stretch>
        </p:blipFill>
        <p:spPr>
          <a:xfrm>
            <a:off x="311700" y="1488973"/>
            <a:ext cx="3796500" cy="2529399"/>
          </a:xfrm>
          <a:prstGeom prst="rect">
            <a:avLst/>
          </a:prstGeom>
          <a:noFill/>
          <a:ln cap="flat" cmpd="sng" w="9525">
            <a:solidFill>
              <a:schemeClr val="lt1"/>
            </a:solidFill>
            <a:prstDash val="solid"/>
            <a:round/>
            <a:headEnd len="sm" w="sm" type="none"/>
            <a:tailEnd len="sm" w="sm" type="none"/>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